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Technology Gap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Competitor: tektelic_com | Generated: 2025-12-19 18:19:19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Competitor: https://tektelic.com</a:t>
            </a:r>
          </a:p>
          <a:p>
            <a:pPr/>
            <a:r>
              <a:t>Baseline: https://door.com</a:t>
            </a:r>
          </a:p>
          <a:p>
            <a:pPr/>
            <a:r>
              <a:t>Generated: 2025-12-19 18:19:19</a:t>
            </a:r>
          </a:p>
          <a:p>
            <a:pPr/>
            <a:r>
              <a:t>Input file: Titanium technology gap analysis.pdf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Report: Titanium vs Competitor (TEKTELIC) vs Baseline (DOOR)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Company Overview &amp; Market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Aspect                     | Titanium (Company)                                     | TEKTELIC (Competitor)                         | DOOR (Baseline)                                         |</a:t>
            </a:r>
          </a:p>
          <a:p>
            <a:pPr/>
            <a:r>
              <a:t>|----------------------------|--------------------------------------------------------|-----------------------------------------------|---------------------------------------------------------|</a:t>
            </a:r>
          </a:p>
          <a:p>
            <a:pPr/>
            <a:r>
              <a:t>| Market Focus               | IoT Blue Ocean innovator focusing on IoT Automation Systems, BMS, and large-scale commercial building management | LoRaWAN gateway solutions focused on professional markets and development of LoRaWAN market in Italy | Building access and intelligence for multifamily buildings |</a:t>
            </a:r>
          </a:p>
          <a:p>
            <a:pPr/>
            <a:r>
              <a:t>| Market Reach               | 30 US states and 2 European countries; 40+ million sq. feet | Focus on LoRaWAN market, particularly in Italy | Primarily multifamily residential building technology and partner network |</a:t>
            </a:r>
          </a:p>
          <a:p>
            <a:pPr/>
            <a:r>
              <a:t>| Technology Approach        | Cloud-based, non-proprietary hardware, full life-cycle IoT architecture, AWS cloud | LoRaWAN gateways, end-to-end solution for IoT connectivity | Hardware and software platform for building access and integration |</a:t>
            </a:r>
          </a:p>
          <a:p>
            <a:pPr/>
            <a:r>
              <a:t>| Innovation Position        | Blue Ocean strategy with comprehensive system addressing IoT market gaps | Technology partner focusing on LoRaWAN protocol development | Robust partner program focusing on business growth in building tech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Technology Infrastructure and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Feature                    | Titanium                                            | TEKTELIC                                         | DOOR                                                     |</a:t>
            </a:r>
          </a:p>
          <a:p>
            <a:pPr/>
            <a:r>
              <a:t>|----------------------------|----------------------------------------------------|-------------------------------------------------|----------------------------------------------------------|</a:t>
            </a:r>
          </a:p>
          <a:p>
            <a:pPr/>
            <a:r>
              <a:t>| IoT Platform Type          | Comprehensive automation system managing devices, cloud, automation, AI analytics | Specialized in LoRaWAN gateway hardware and connectivity | Focus on hardware and software for smart access/control in buildings |</a:t>
            </a:r>
          </a:p>
          <a:p>
            <a:pPr/>
            <a:r>
              <a:t>| Cloud &amp; Software Stack     | AWS-based, SOC2/ISO compliant; full visibility and control; open-source, interoperable | Not specified; emphasis on LoRaWAN connectivity technology | Cloud-based channel partner tools; product roadmap visibility |</a:t>
            </a:r>
          </a:p>
          <a:p>
            <a:pPr/>
            <a:r>
              <a:t>| Network Architecture       | Direct-to-cloud communication, no middleware/local servers | LoRaWAN long-range wireless network gateways | Not specified; focused on access technology integration |</a:t>
            </a:r>
          </a:p>
          <a:p>
            <a:pPr/>
            <a:r>
              <a:t>| Protocol Support           | Multi-protocol device to gateway, multi-uplink options, no dependence on Wi-Fi | LoRaWAN protocol support specialized | Not described; hardware and software integration focus |</a:t>
            </a:r>
          </a:p>
          <a:p>
            <a:pPr/>
            <a:r>
              <a:t>| Firmware Management        | OTA remote firmware updates with no interruptions for up to 10 years | Not specified in detail | Not specified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Key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Aspect                     | Titanium                                            | TEKTELIC                                         | DOOR                                                     |</a:t>
            </a:r>
          </a:p>
          <a:p>
            <a:pPr/>
            <a:r>
              <a:t>|----------------------------|----------------------------------------------------|-------------------------------------------------|----------------------------------------------------------|</a:t>
            </a:r>
          </a:p>
          <a:p>
            <a:pPr/>
            <a:r>
              <a:t>| Market Coverage            | Applicable to 80% commercial buildings lacking BMS | Focused on LoRaWAN IoT connectivity solutions | Concentrates on multifamily residential building tech |</a:t>
            </a:r>
          </a:p>
          <a:p>
            <a:pPr/>
            <a:r>
              <a:t>| Installation &amp; Cost        | Self-install capabilities; 80% installation cost reduction; no wiring needed | Not detailed; presumably professional installation for gateways | Partner network enables installer growth; premium margins |</a:t>
            </a:r>
          </a:p>
          <a:p>
            <a:pPr/>
            <a:r>
              <a:t>| Security                   | End-to-end encryption, segregated network, SOC 2 Type II compliance (WIP) | Not detailed; LoRaWAN has inherent encryption but specifics not given | Security focus implied in access control, not detailed |</a:t>
            </a:r>
          </a:p>
          <a:p>
            <a:pPr/>
            <a:r>
              <a:t>| Data &amp; Analytics           | Real-time bidirectional data, structured for AI, supports integration with CRM/ERP | Gateway data transmission; data handling specifics not stated | Data focus on intelligent building and access management |</a:t>
            </a:r>
          </a:p>
          <a:p>
            <a:pPr/>
            <a:r>
              <a:t>| Reliability                | AWS cloud infrastructure; continued operation through outages | Not specified; gateway reliability assumed professional-grade | Partner support and roadmap focus indicate business continuity |</a:t>
            </a:r>
          </a:p>
          <a:p>
            <a:pPr/>
            <a:r>
              <a:t>| Hardware Approach          | Non-proprietary hardware supporting many manufacturers; no vendor lock-in | Proprietary LoRaWAN gateways | Hardware tailored for access/building integration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Customer and Support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Aspect                     | Titanium                                            | TEKTELIC                                         | DOOR                                                     |</a:t>
            </a:r>
          </a:p>
          <a:p>
            <a:pPr/>
            <a:r>
              <a:t>|----------------------------|----------------------------------------------------|-------------------------------------------------|----------------------------------------------------------|</a:t>
            </a:r>
          </a:p>
          <a:p>
            <a:pPr/>
            <a:r>
              <a:t>| Customer Control &amp; Governance| Full visibility/control enabling enterprise and ESG compliance | Customer support described as cooperative and professional | Channel Partner Program with marketing, lead referrals, and dedicated support |</a:t>
            </a:r>
          </a:p>
          <a:p>
            <a:pPr/>
            <a:r>
              <a:t>| Deployment Scale           | Large scale: tens of millions square feet covered  | Regional (Italy); LoRaWAN market development focus | Partner network in multifamily residential sector |</a:t>
            </a:r>
          </a:p>
          <a:p>
            <a:pPr/>
            <a:r>
              <a:t>| Incident Management        | Cascading multi-method notifications with full history and acknowledgments | Not described | Not detailed |</a:t>
            </a:r>
          </a:p>
          <a:p>
            <a:pPr/>
            <a:r>
              <a:t>| Support &amp; Accessibility    | Unlimited user access, accessible globally via web | Team availability and cooperation highlighted | Partner success team with early product access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Market and Technology Challenges Addressed by Titanium (vs Market)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Challenge                           | Titanium Solution                                        | Market Status/Competitor Position                  |</a:t>
            </a:r>
          </a:p>
          <a:p>
            <a:pPr/>
            <a:r>
              <a:t>|-----------------------------------|----------------------------------------------------------|---------------------------------------------------|</a:t>
            </a:r>
          </a:p>
          <a:p>
            <a:pPr/>
            <a:r>
              <a:t>| IoT Scale and Complex Networks    | Avoids middleware dependency; direct cloud communication | Competitors often rely on mesh networks and middleware |</a:t>
            </a:r>
          </a:p>
          <a:p>
            <a:pPr/>
            <a:r>
              <a:t>| Hardware &amp; Vendor Lock-in          | Non-proprietary hardware; multi-protocol support         | Many competitors, likely including TEKTELIC, proprietary hardware |</a:t>
            </a:r>
          </a:p>
          <a:p>
            <a:pPr/>
            <a:r>
              <a:t>| Network Reliability &amp; Blind Spots  | No Wi-Fi needed; no local repeaters; segregated network  | Mesh and Wi-Fi dependent systems have coverage issues |</a:t>
            </a:r>
          </a:p>
          <a:p>
            <a:pPr/>
            <a:r>
              <a:t>| Security &amp; Compliance              | SOC 2 Type II compliant; end-to-end encryption           | Not clearly addressed by competitor or baseline |</a:t>
            </a:r>
          </a:p>
          <a:p>
            <a:pPr/>
            <a:r>
              <a:t>| Cost and Installation Complexity  | Self-install; no wiring; 80% installation cost saving    | Installation complexity not mentioned for competitor, focus less on self-install |</a:t>
            </a:r>
          </a:p>
          <a:p>
            <a:pPr/>
            <a:r>
              <a:t>| Firmware Updates                   | Over-the-air without downtime for 10+ years              | Competitors may require physical presence or Wi-Fi with risks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Criteria                 | Titanium (Company)                               | TEKTELIC (Competitor)                             | DOOR (Baseline)                               |</a:t>
            </a:r>
          </a:p>
          <a:p>
            <a:pPr/>
            <a:r>
              <a:t>|--------------------------|-------------------------------------------------|-------------------------------------------------|-----------------------------------------------|</a:t>
            </a:r>
          </a:p>
          <a:p>
            <a:pPr/>
            <a:r>
              <a:t>| Breadth of Offering      | Full IoT Automation lifecycle, BMS, AI analytics | Focused on LoRaWAN gateways &amp; connectivity       | Building access control &amp; partner ecosystem   |</a:t>
            </a:r>
          </a:p>
          <a:p>
            <a:pPr/>
            <a:r>
              <a:t>| Market Applicability     | Broad commercial building coverage (80%)         | Niche LoRaWAN professional market                  | Multifamily residential building tech         |</a:t>
            </a:r>
          </a:p>
          <a:p>
            <a:pPr/>
            <a:r>
              <a:t>| Deployment Scale        | Large, multi-country, large sq. footage           | Regional (Italy) focus                              | Partnership-driven growth                      |</a:t>
            </a:r>
          </a:p>
          <a:p>
            <a:pPr/>
            <a:r>
              <a:t>| Technology Innovation   | Proprietary-free, cloud-based, multi-protocol      | LoRaWAN specialized hardware focus                  | Hardware &amp; software solutions for access      |</a:t>
            </a:r>
          </a:p>
          <a:p>
            <a:pPr/>
            <a:r>
              <a:t>| Security &amp; Reliability  | High (SOC2, AWS 24/7, encrypted communication)    | Not clearly specified                               | Implied business continuity, partner support  |</a:t>
            </a:r>
          </a:p>
          <a:p>
            <a:pPr/>
            <a:r>
              <a:t>| Installation &amp; Cost     | Low cost, self-install, no wiring needed           | Not specified                                      | Partner-enabled installation growth          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Titanium positions itself as a comprehensive, scalable, and highly innovative IoT automation platform overcoming critical IoT market gaps including scalability, security, interoperability, and cost-effective deployment. Its use of non-proprietary hardware and cloud independence set it apart from traditional siloed systems and proprietary solutions.</a:t>
            </a:r>
          </a:p>
          <a:p>
            <a:pPr/>
            <a:r>
              <a:t>TEKTELIC serves a more focused segment providing leading LoRaWAN hardware solutions and market development expertise but lacks detailed articulation on broader system capabilities, security, and scalability beyond LoRaWAN technology.</a:t>
            </a:r>
          </a:p>
          <a:p>
            <a:pPr/>
            <a:r>
              <a:t>DOOR provides a mature channel partner ecosystem for building access and intelligence in multifamily housing, emphasizing business growth and partner enablement rather than a broad IoT platform or comprehensive building management.</a:t>
            </a:r>
          </a:p>
          <a:p>
            <a:pPr/>
            <a:r>
              <a:t>Titanium’s strengths lie in its thorough addressing of technical and operational challenges, broad market applicability, and innovative architecture, making it the most advanced IoT systems solution among the three entities reviewed.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